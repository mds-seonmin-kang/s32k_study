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63" r:id="rId3"/>
    <p:sldId id="256" r:id="rId4"/>
    <p:sldId id="257" r:id="rId5"/>
    <p:sldId id="258" r:id="rId6"/>
    <p:sldId id="259" r:id="rId7"/>
    <p:sldId id="262" r:id="rId8"/>
    <p:sldId id="264" r:id="rId9"/>
    <p:sldId id="261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991EB3-C757-4D8F-A8EF-D5EB39F0E3F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9F0BDB-FC3F-4037-B217-FCDD36D72D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3722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F0BDB-FC3F-4037-B217-FCDD36D72D2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515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1AB6C-4ECE-03AB-B5DC-FC8C4FABCB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E6691B9-BA51-7D53-C6DA-177DB7289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029835-7E2B-6AAF-EDC7-7F85BF5B0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732C2-154C-40C6-AF3E-56D887B9155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4E2F4D-1801-B270-E09E-40DD6DD12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5A5E71-37E8-93E9-DC5A-63F15C5A1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B375-43E6-4611-AB16-10266B429E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19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91A4F6-6892-6F00-FA58-A90F06179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5EE8A6-78EF-083C-4186-F6138C448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88507F-656A-AF3E-8177-20DAF2166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732C2-154C-40C6-AF3E-56D887B9155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D3BD0E-9E3A-613B-8DEA-78B9BA04C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05CA08-DB24-A558-726A-B677CF71E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B375-43E6-4611-AB16-10266B429E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15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74A7E8-4426-3F16-5E9F-9C56B29C9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E27FB4-452E-D510-7518-06BDFBF64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F2ED6B-78CB-6276-52A0-70F5879E4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732C2-154C-40C6-AF3E-56D887B9155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32327C-3DCE-FFF2-EDD4-E428BE960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F4330A-F3FF-F4A7-9762-35D5FA944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B375-43E6-4611-AB16-10266B429E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334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768982-BBEE-E8FF-D506-1F51EF79F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5FE34E-292A-A761-A316-BF0CC895C6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228EE7A-32BF-8293-94A0-83909DB5C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3710CB-7BC6-B652-2BF3-EC6067936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732C2-154C-40C6-AF3E-56D887B9155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A8E8C4-8D8F-4919-D80C-2F6849897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A56F57-FF86-07A2-421B-ABBBB7FC7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B375-43E6-4611-AB16-10266B429E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44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5C58AD-4E2A-2005-1051-59407463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155292-C5C9-80B9-851E-5E9086329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0E7E9D-61B1-7695-DEE0-46A7D4B87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48BA6B3-5DB8-7140-260B-16DAAE49E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044B55-FBEF-2C4F-A976-F6CD9D7A8B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9E3D9F7-2141-4BEB-158C-9FEFA8CE8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732C2-154C-40C6-AF3E-56D887B9155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B6E676E-66E5-4821-E62C-154C1B3CA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D149FA2-F2F6-CD21-F505-A505DD901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B375-43E6-4611-AB16-10266B429E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593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9DED7A-5F4E-3F28-5467-8C2C45FE3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8A6C876-6E1F-E192-3EBC-91EF11C82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732C2-154C-40C6-AF3E-56D887B9155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E50AF1-F218-DC25-9CE7-238EDD123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C3BF64-C452-7228-867B-7DB34AE65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B375-43E6-4611-AB16-10266B429E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496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7C04A87-B5FB-07C2-B582-9880F6D24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732C2-154C-40C6-AF3E-56D887B9155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273DE44-FD43-F6F8-7E18-EE56290B3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76252D-C295-D849-CEAD-3A5FAA4C1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B375-43E6-4611-AB16-10266B429E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432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345E2-CB24-5889-DDD0-639A906FD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444B84-50BB-A1E8-B253-3B91B5197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A4F425-DD2C-4AF0-4743-539413047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9168CF-965B-2AF2-7EA6-EAD320E9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732C2-154C-40C6-AF3E-56D887B9155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24D984-EBF5-D912-C84F-3C2C7E1A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60063F-A28F-1274-0C1B-0B86F0625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B375-43E6-4611-AB16-10266B429E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265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A367D-4C16-4C21-AEE5-DD3D986E9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83EE7C5-8605-0B71-5CAE-C4C652EFFC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EC0EA6-3870-89B6-0139-E4C462721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E7EDF4-2C19-0F01-472D-1D2E2E768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732C2-154C-40C6-AF3E-56D887B9155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8A7521-3F68-8C6B-FCF0-D49B03C6D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9869B2-2805-D78D-EFA8-360D79220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B375-43E6-4611-AB16-10266B429E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737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9E2B39-8F33-10FA-B5AA-2FA5C1DF9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4CFD4B-4FB3-76D0-05FF-E4E99F019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947BD6-DEC3-7F25-2820-221307F3A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732C2-154C-40C6-AF3E-56D887B9155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D4AC22-DC1F-59A3-105A-8307813ED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B324BE-7DEA-D717-195B-59E4CA93B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B375-43E6-4611-AB16-10266B429E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058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BD8E3D8-DDE4-0367-5E3D-CE4DFE9248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E9F72D-0540-6C7E-BE88-4DF9AA79E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03C77A-D30F-BD86-0605-5133B7EB4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732C2-154C-40C6-AF3E-56D887B9155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63E558-AD73-64D6-7D74-0DCCD954F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05B83C-1441-3255-3602-8C4DAF54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B375-43E6-4611-AB16-10266B429E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618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D8EEAD7-BC54-AA9B-2E83-8CE821645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781E44-950F-1EFE-C400-351FF39DC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13047A-57D9-5C94-51F7-9EE297492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732C2-154C-40C6-AF3E-56D887B9155C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423D04-FDED-2DC1-697E-32F2CEE94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F170-FC86-9B4F-C791-2D44CAA6B7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7DB375-43E6-4611-AB16-10266B429E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646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F28C62-30EF-A09F-083E-E6F4555C7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346" y="0"/>
            <a:ext cx="91353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958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etting Started with the S32K144EVB | NXP Semiconductors">
            <a:extLst>
              <a:ext uri="{FF2B5EF4-FFF2-40B4-BE49-F238E27FC236}">
                <a16:creationId xmlns:a16="http://schemas.microsoft.com/office/drawing/2014/main" id="{ABBAA25C-185D-AE55-D782-1BD5842AB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938213"/>
            <a:ext cx="10725150" cy="498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541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C98F41-18C3-5B82-F9FA-EFB7A1A29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025"/>
            <a:ext cx="12192000" cy="672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057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전자제품, 전자 공학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9C083A-6735-EAB2-92BA-C67D6C1DE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475" y="577596"/>
            <a:ext cx="6105525" cy="5867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BAE749-4169-8D36-BF86-75C95849AAFA}"/>
              </a:ext>
            </a:extLst>
          </p:cNvPr>
          <p:cNvSpPr txBox="1"/>
          <p:nvPr/>
        </p:nvSpPr>
        <p:spPr>
          <a:xfrm>
            <a:off x="0" y="0"/>
            <a:ext cx="60864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주요 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VDD : J3-07(3V3), J3-09(5V), J5-10</a:t>
            </a:r>
          </a:p>
          <a:p>
            <a:pPr marL="342900" indent="-342900">
              <a:buAutoNum type="arabicPeriod"/>
            </a:pPr>
            <a:r>
              <a:rPr lang="en-US" altLang="ko-KR" dirty="0"/>
              <a:t>GND : J3-11, J3-13, J5-12</a:t>
            </a:r>
          </a:p>
          <a:p>
            <a:pPr marL="342900" indent="-342900">
              <a:buAutoNum type="arabicPeriod"/>
            </a:pPr>
            <a:r>
              <a:rPr lang="en-US" altLang="ko-KR" dirty="0"/>
              <a:t>ADC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J4-01, 03, 05, 07, 09, 11, 13, 15</a:t>
            </a:r>
            <a:br>
              <a:rPr lang="en-US" altLang="ko-KR" dirty="0"/>
            </a:br>
            <a:r>
              <a:rPr lang="en-US" altLang="ko-KR" dirty="0"/>
              <a:t>        J5-01, 03, 05, 07, 09, 11, 13, 15</a:t>
            </a:r>
          </a:p>
          <a:p>
            <a:pPr marL="342900" indent="-342900">
              <a:buAutoNum type="arabicPeriod"/>
            </a:pPr>
            <a:r>
              <a:rPr lang="en-US" altLang="ko-KR" dirty="0"/>
              <a:t>RESET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GPIO : J3-02, 04, 06, 08, 10, 12, 14, 16</a:t>
            </a:r>
            <a:br>
              <a:rPr lang="en-US" altLang="ko-KR" dirty="0"/>
            </a:br>
            <a:r>
              <a:rPr lang="en-US" altLang="ko-KR" dirty="0"/>
              <a:t>	  J4-02, 04, 06, 08, 10, 12, 14, 16</a:t>
            </a:r>
            <a:br>
              <a:rPr lang="en-US" altLang="ko-KR" dirty="0"/>
            </a:br>
            <a:r>
              <a:rPr lang="en-US" altLang="ko-KR" dirty="0"/>
              <a:t>	  J5-02, 04, 06, 08, 10, 12, 14, 16 ,18, 20</a:t>
            </a:r>
          </a:p>
          <a:p>
            <a:pPr marL="342900" indent="-342900">
              <a:buAutoNum type="arabicPeriod"/>
            </a:pPr>
            <a:r>
              <a:rPr lang="en-US" altLang="ko-KR" dirty="0"/>
              <a:t>IOREF : J3-03</a:t>
            </a:r>
          </a:p>
        </p:txBody>
      </p:sp>
    </p:spTree>
    <p:extLst>
      <p:ext uri="{BB962C8B-B14F-4D97-AF65-F5344CB8AC3E}">
        <p14:creationId xmlns:p14="http://schemas.microsoft.com/office/powerpoint/2010/main" val="214168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회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6E16F3-03EA-5341-5F27-D1539E393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24307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016F7D-8D75-A1A1-DB03-B9A6393F4166}"/>
              </a:ext>
            </a:extLst>
          </p:cNvPr>
          <p:cNvSpPr txBox="1"/>
          <p:nvPr/>
        </p:nvSpPr>
        <p:spPr>
          <a:xfrm>
            <a:off x="7243075" y="0"/>
            <a:ext cx="533839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주요 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I2C</a:t>
            </a:r>
          </a:p>
          <a:p>
            <a:pPr marL="800100" lvl="1" indent="-342900">
              <a:buAutoNum type="arabicPeriod"/>
            </a:pPr>
            <a:r>
              <a:rPr lang="en-US" altLang="ko-KR" dirty="0"/>
              <a:t>I2C_CLK : J2-19</a:t>
            </a:r>
          </a:p>
          <a:p>
            <a:pPr marL="800100" lvl="1" indent="-342900">
              <a:buAutoNum type="arabicPeriod"/>
            </a:pPr>
            <a:r>
              <a:rPr lang="en-US" altLang="ko-KR" dirty="0"/>
              <a:t>I2C_SDA : J2-17</a:t>
            </a:r>
          </a:p>
          <a:p>
            <a:pPr marL="800100" lvl="1" indent="-342900">
              <a:buAutoNum type="arabicPeriod"/>
            </a:pPr>
            <a:r>
              <a:rPr lang="ko-KR" altLang="en-US" dirty="0"/>
              <a:t>아날로그 레퍼런스</a:t>
            </a:r>
            <a:r>
              <a:rPr lang="en-US" altLang="ko-KR" dirty="0"/>
              <a:t>? : J2-15</a:t>
            </a:r>
          </a:p>
          <a:p>
            <a:pPr marL="342900" indent="-342900">
              <a:buAutoNum type="arabicPeriod"/>
            </a:pPr>
            <a:r>
              <a:rPr lang="en-US" altLang="ko-KR" dirty="0"/>
              <a:t>SPI</a:t>
            </a:r>
          </a:p>
          <a:p>
            <a:pPr marL="800100" lvl="1" indent="-342900">
              <a:buAutoNum type="arabicPeriod"/>
            </a:pPr>
            <a:r>
              <a:rPr lang="en-US" altLang="ko-KR" dirty="0"/>
              <a:t>SPI_SCK : J2-11</a:t>
            </a:r>
          </a:p>
          <a:p>
            <a:pPr marL="800100" lvl="1" indent="-342900">
              <a:buAutoNum type="arabicPeriod"/>
            </a:pPr>
            <a:r>
              <a:rPr lang="en-US" altLang="ko-KR" dirty="0"/>
              <a:t>SPI_SIN : J2-09</a:t>
            </a:r>
          </a:p>
          <a:p>
            <a:pPr marL="800100" lvl="1" indent="-342900">
              <a:buAutoNum type="arabicPeriod"/>
            </a:pPr>
            <a:r>
              <a:rPr lang="en-US" altLang="ko-KR" dirty="0"/>
              <a:t>SPI_SOUT : J2-07</a:t>
            </a:r>
          </a:p>
          <a:p>
            <a:pPr marL="800100" lvl="1" indent="-342900">
              <a:buAutoNum type="arabicPeriod"/>
            </a:pPr>
            <a:r>
              <a:rPr lang="en-US" altLang="ko-KR" dirty="0"/>
              <a:t>SPI_CS : J2-05 </a:t>
            </a:r>
          </a:p>
          <a:p>
            <a:pPr marL="342900" indent="-342900">
              <a:buAutoNum type="arabicPeriod"/>
            </a:pPr>
            <a:r>
              <a:rPr lang="en-US" altLang="ko-KR" dirty="0"/>
              <a:t>PWM :</a:t>
            </a:r>
            <a:r>
              <a:rPr lang="ko-KR" altLang="en-US" dirty="0"/>
              <a:t> </a:t>
            </a:r>
            <a:r>
              <a:rPr lang="en-US" altLang="ko-KR" dirty="0"/>
              <a:t>J2-03, J2-01</a:t>
            </a:r>
          </a:p>
          <a:p>
            <a:pPr marL="342900" indent="-342900">
              <a:buAutoNum type="arabicPeriod"/>
            </a:pPr>
            <a:r>
              <a:rPr lang="en-US" altLang="ko-KR" dirty="0"/>
              <a:t>GPIO</a:t>
            </a:r>
            <a:r>
              <a:rPr lang="ko-KR" altLang="en-US" dirty="0"/>
              <a:t> </a:t>
            </a:r>
            <a:r>
              <a:rPr lang="en-US" altLang="ko-KR" dirty="0"/>
              <a:t>: J2-02, 04, 06, 08, 10, 12, 14, 16, 18, 20</a:t>
            </a:r>
            <a:br>
              <a:rPr lang="en-US" altLang="ko-KR" dirty="0"/>
            </a:br>
            <a:r>
              <a:rPr lang="en-US" altLang="ko-KR" dirty="0"/>
              <a:t>	  J1-02, 04, 06, 08, 10, 12, 14, 16, 18, 20</a:t>
            </a:r>
            <a:br>
              <a:rPr lang="en-US" altLang="ko-KR" dirty="0"/>
            </a:br>
            <a:r>
              <a:rPr lang="en-US" altLang="ko-KR" dirty="0"/>
              <a:t>	  J6-01,02,03,04,06,08,10,12,14,16,18,20</a:t>
            </a:r>
          </a:p>
          <a:p>
            <a:pPr marL="342900" indent="-342900">
              <a:buAutoNum type="arabicPeriod"/>
            </a:pPr>
            <a:r>
              <a:rPr lang="en-US" altLang="ko-KR" dirty="0"/>
              <a:t>D? : J1-01, 03, 05, 07, 09, 11, 13, 15</a:t>
            </a:r>
            <a:br>
              <a:rPr lang="en-US" altLang="ko-KR" dirty="0"/>
            </a:br>
            <a:r>
              <a:rPr lang="en-US" altLang="ko-KR" dirty="0"/>
              <a:t>      J6-05, 07, 09, 11, 13, 15, 17, 19</a:t>
            </a:r>
            <a:br>
              <a:rPr lang="en-US" altLang="ko-KR" dirty="0"/>
            </a:br>
            <a:r>
              <a:rPr lang="en-US" altLang="ko-KR" dirty="0"/>
              <a:t>      J2-01, 03, 05, 07, 09, 11, 17, 19</a:t>
            </a:r>
          </a:p>
          <a:p>
            <a:pPr marL="342900" indent="-342900">
              <a:buAutoNum type="arabicPeriod"/>
            </a:pPr>
            <a:r>
              <a:rPr lang="en-US" altLang="ko-KR" dirty="0"/>
              <a:t>GND : J2-13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0738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4853CB-A7E6-5FD9-2138-6187C749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651000" cy="618067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HMI - LED</a:t>
            </a:r>
            <a:endParaRPr lang="ko-KR" altLang="en-US" sz="2400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1A6BC3-0EDA-7703-67CD-57D0EB9D8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469" y="1620201"/>
            <a:ext cx="5190066" cy="1090297"/>
          </a:xfrm>
          <a:prstGeom prst="rect">
            <a:avLst/>
          </a:prstGeom>
        </p:spPr>
      </p:pic>
      <p:pic>
        <p:nvPicPr>
          <p:cNvPr id="6" name="그림 5" descr="텍스트, 스크린샷, 회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C86A2D-7CE7-1F74-479D-7C9F9F6BE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8067"/>
            <a:ext cx="5689600" cy="538711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F782E05B-E0E4-DF9C-C7E9-0805EED2984E}"/>
              </a:ext>
            </a:extLst>
          </p:cNvPr>
          <p:cNvSpPr/>
          <p:nvPr/>
        </p:nvSpPr>
        <p:spPr>
          <a:xfrm>
            <a:off x="3691466" y="2333625"/>
            <a:ext cx="1845734" cy="101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65C0A0A-A21D-E548-9623-590B9CBDD883}"/>
              </a:ext>
            </a:extLst>
          </p:cNvPr>
          <p:cNvSpPr/>
          <p:nvPr/>
        </p:nvSpPr>
        <p:spPr>
          <a:xfrm>
            <a:off x="3691466" y="2041525"/>
            <a:ext cx="1845734" cy="12382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D8E8750-3E89-D348-9A8A-487DB026F43A}"/>
              </a:ext>
            </a:extLst>
          </p:cNvPr>
          <p:cNvSpPr/>
          <p:nvPr/>
        </p:nvSpPr>
        <p:spPr>
          <a:xfrm>
            <a:off x="3691466" y="2187575"/>
            <a:ext cx="1845734" cy="123825"/>
          </a:xfrm>
          <a:prstGeom prst="rect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194CE6C8-144C-38C6-6B6C-A8EE8EBC7E52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5537200" y="2103438"/>
            <a:ext cx="1231900" cy="207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5F980DD-CAE7-D899-C02C-826076C71CBC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5537200" y="2249488"/>
            <a:ext cx="1231900" cy="284162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190D678-18EB-D87A-E2B7-379FABD62C0A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5537200" y="2041525"/>
            <a:ext cx="1231900" cy="342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그림 2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177930-4594-F3B3-B12D-F031A56490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678" t="83467" r="48866" b="4800"/>
          <a:stretch>
            <a:fillRect/>
          </a:stretch>
        </p:blipFill>
        <p:spPr>
          <a:xfrm>
            <a:off x="70442" y="6053328"/>
            <a:ext cx="2508166" cy="80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061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EBCD337-A542-FB93-FD13-324385690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486400" cy="618067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HMI – </a:t>
            </a:r>
            <a:r>
              <a:rPr lang="ko-KR" altLang="en-US" sz="2400" dirty="0"/>
              <a:t>가변저항 </a:t>
            </a:r>
            <a:r>
              <a:rPr lang="en-US" altLang="ko-KR" sz="2400" dirty="0"/>
              <a:t>(Potentiometer)</a:t>
            </a:r>
            <a:endParaRPr lang="ko-KR" altLang="en-US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20E360-BB6E-C014-2EB8-F08441D961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r="22059" b="-5846"/>
          <a:stretch>
            <a:fillRect/>
          </a:stretch>
        </p:blipFill>
        <p:spPr>
          <a:xfrm>
            <a:off x="0" y="3429000"/>
            <a:ext cx="5998464" cy="393192"/>
          </a:xfrm>
          <a:prstGeom prst="rect">
            <a:avLst/>
          </a:prstGeom>
        </p:spPr>
      </p:pic>
      <p:pic>
        <p:nvPicPr>
          <p:cNvPr id="7" name="그림 6" descr="텍스트, 전자제품, 전자 공학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E12B3C-4943-E731-37C9-69BF4705C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990600"/>
            <a:ext cx="6105525" cy="5867400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8C2872B-BCDD-E97C-444D-D351A3ED0ED5}"/>
              </a:ext>
            </a:extLst>
          </p:cNvPr>
          <p:cNvCxnSpPr>
            <a:cxnSpLocks/>
          </p:cNvCxnSpPr>
          <p:nvPr/>
        </p:nvCxnSpPr>
        <p:spPr>
          <a:xfrm flipH="1" flipV="1">
            <a:off x="5047488" y="3822192"/>
            <a:ext cx="1048512" cy="256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그림 1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B1FCCD-46B3-2218-9D4A-5604E5C3A9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238" t="83733" r="10229" b="5067"/>
          <a:stretch>
            <a:fillRect/>
          </a:stretch>
        </p:blipFill>
        <p:spPr>
          <a:xfrm>
            <a:off x="493776" y="5733288"/>
            <a:ext cx="3154680" cy="76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78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2A0FBB-EA0E-B9C1-6E2A-D85D3945B1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7" t="30497" r="36862" b="58607"/>
          <a:stretch>
            <a:fillRect/>
          </a:stretch>
        </p:blipFill>
        <p:spPr>
          <a:xfrm>
            <a:off x="7032522" y="1722922"/>
            <a:ext cx="4835426" cy="70992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756F3B08-C8C5-43BB-EFC3-8667E7F1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486400" cy="618067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HMI – SW(</a:t>
            </a:r>
            <a:r>
              <a:rPr lang="ko-KR" altLang="en-US" sz="2400" dirty="0"/>
              <a:t>스위치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pic>
        <p:nvPicPr>
          <p:cNvPr id="7" name="그림 6" descr="텍스트, 스크린샷, 회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E96FAD-F1EB-E0E0-CF36-F2E4904DC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09920"/>
            <a:ext cx="6493293" cy="6148080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CCEEA9A-268B-49A5-B469-7FF752A3EE68}"/>
              </a:ext>
            </a:extLst>
          </p:cNvPr>
          <p:cNvCxnSpPr>
            <a:cxnSpLocks/>
          </p:cNvCxnSpPr>
          <p:nvPr/>
        </p:nvCxnSpPr>
        <p:spPr>
          <a:xfrm flipV="1">
            <a:off x="6304547" y="1896177"/>
            <a:ext cx="798897" cy="1817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4496304-79AF-E4E3-88ED-03813C86702A}"/>
              </a:ext>
            </a:extLst>
          </p:cNvPr>
          <p:cNvCxnSpPr>
            <a:cxnSpLocks/>
          </p:cNvCxnSpPr>
          <p:nvPr/>
        </p:nvCxnSpPr>
        <p:spPr>
          <a:xfrm>
            <a:off x="6304547" y="1987029"/>
            <a:ext cx="727975" cy="264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그림 15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CA085F-F818-3F34-F192-2F593DCD53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9873" y="4175559"/>
            <a:ext cx="406717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702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7CC094B-A1CF-1DBD-4195-9A2374529D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1884"/>
          <a:stretch>
            <a:fillRect/>
          </a:stretch>
        </p:blipFill>
        <p:spPr>
          <a:xfrm>
            <a:off x="865713" y="2844373"/>
            <a:ext cx="2155825" cy="77152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31520DC-058C-D5F8-A4F0-D293C5B71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24375" cy="618067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HMI – </a:t>
            </a:r>
            <a:r>
              <a:rPr lang="en-US" altLang="ko-KR" sz="2400" dirty="0" err="1"/>
              <a:t>OpenSDA</a:t>
            </a:r>
            <a:r>
              <a:rPr lang="en-US" altLang="ko-KR" sz="2400" dirty="0"/>
              <a:t> UART</a:t>
            </a:r>
            <a:endParaRPr lang="ko-KR" altLang="en-US" sz="2400" dirty="0"/>
          </a:p>
        </p:txBody>
      </p:sp>
      <p:pic>
        <p:nvPicPr>
          <p:cNvPr id="3" name="그림 2" descr="텍스트, 전자제품, 전자 공학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AC419C-94E6-6FC6-5072-AB1FC6586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990600"/>
            <a:ext cx="6105525" cy="58674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0332ECB-B9A0-48CA-983B-74276562811B}"/>
              </a:ext>
            </a:extLst>
          </p:cNvPr>
          <p:cNvSpPr/>
          <p:nvPr/>
        </p:nvSpPr>
        <p:spPr>
          <a:xfrm>
            <a:off x="6086474" y="3075304"/>
            <a:ext cx="1995805" cy="30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8261AE05-92BD-09EE-20EF-8F93CCFC0A8D}"/>
              </a:ext>
            </a:extLst>
          </p:cNvPr>
          <p:cNvCxnSpPr>
            <a:cxnSpLocks/>
          </p:cNvCxnSpPr>
          <p:nvPr/>
        </p:nvCxnSpPr>
        <p:spPr>
          <a:xfrm flipH="1">
            <a:off x="5178424" y="3157489"/>
            <a:ext cx="908050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C42729B-2874-4F5A-521A-867B5EF7E660}"/>
              </a:ext>
            </a:extLst>
          </p:cNvPr>
          <p:cNvCxnSpPr>
            <a:cxnSpLocks/>
          </p:cNvCxnSpPr>
          <p:nvPr/>
        </p:nvCxnSpPr>
        <p:spPr>
          <a:xfrm flipH="1">
            <a:off x="5187950" y="3294379"/>
            <a:ext cx="9080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AC88EF73-1D39-B10B-867F-BE32EE24B0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21" r="21863"/>
          <a:stretch>
            <a:fillRect/>
          </a:stretch>
        </p:blipFill>
        <p:spPr>
          <a:xfrm>
            <a:off x="3022598" y="2843528"/>
            <a:ext cx="2155825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088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ACDF36E-8CC9-5BF3-A3E3-76569EC5E4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427"/>
          <a:stretch>
            <a:fillRect/>
          </a:stretch>
        </p:blipFill>
        <p:spPr>
          <a:xfrm>
            <a:off x="6502400" y="4433251"/>
            <a:ext cx="5689600" cy="68580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616F395B-5C0D-6377-10F8-6A1934551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24375" cy="618067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HMI – </a:t>
            </a:r>
            <a:r>
              <a:rPr lang="en-US" altLang="ko-KR" sz="2400"/>
              <a:t>CAN </a:t>
            </a:r>
            <a:r>
              <a:rPr lang="ko-KR" altLang="en-US" sz="2400" dirty="0"/>
              <a:t>인터페이스</a:t>
            </a:r>
          </a:p>
        </p:txBody>
      </p:sp>
      <p:pic>
        <p:nvPicPr>
          <p:cNvPr id="7" name="그림 6" descr="텍스트, 스크린샷, 회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B228A7-6865-09BB-5E90-00F51873C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5442"/>
            <a:ext cx="5689600" cy="538711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1D97DC3-8EF7-66C7-D626-56FD167D8D35}"/>
              </a:ext>
            </a:extLst>
          </p:cNvPr>
          <p:cNvSpPr/>
          <p:nvPr/>
        </p:nvSpPr>
        <p:spPr>
          <a:xfrm>
            <a:off x="3789680" y="4633170"/>
            <a:ext cx="1849120" cy="285963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FE592529-2C3C-201B-C867-4B1FFCA7530B}"/>
              </a:ext>
            </a:extLst>
          </p:cNvPr>
          <p:cNvCxnSpPr>
            <a:cxnSpLocks/>
          </p:cNvCxnSpPr>
          <p:nvPr/>
        </p:nvCxnSpPr>
        <p:spPr>
          <a:xfrm flipV="1">
            <a:off x="5638800" y="4633170"/>
            <a:ext cx="863600" cy="22013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CEA38A6-1F95-19B0-D143-4F778C515F7C}"/>
              </a:ext>
            </a:extLst>
          </p:cNvPr>
          <p:cNvCxnSpPr>
            <a:cxnSpLocks/>
          </p:cNvCxnSpPr>
          <p:nvPr/>
        </p:nvCxnSpPr>
        <p:spPr>
          <a:xfrm>
            <a:off x="5638800" y="4680689"/>
            <a:ext cx="863600" cy="345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2081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5905C-512E-E137-C18C-162D57A50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684EE0F-169D-0F89-9962-96687857D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24375" cy="618067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HMI – LIN </a:t>
            </a:r>
            <a:r>
              <a:rPr lang="ko-KR" altLang="en-US" sz="2400" dirty="0"/>
              <a:t>인터페이스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5A63173-FFB5-CB2A-317D-B52650BE40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343" t="-7566" r="23587"/>
          <a:stretch>
            <a:fillRect/>
          </a:stretch>
        </p:blipFill>
        <p:spPr>
          <a:xfrm>
            <a:off x="2832080" y="2876976"/>
            <a:ext cx="1919859" cy="717195"/>
          </a:xfrm>
          <a:prstGeom prst="rect">
            <a:avLst/>
          </a:prstGeom>
        </p:spPr>
      </p:pic>
      <p:pic>
        <p:nvPicPr>
          <p:cNvPr id="7" name="그림 6" descr="텍스트, 전자제품, 전자 공학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72458B-D888-52F7-E997-DEDE4DD3C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950" y="990600"/>
            <a:ext cx="6105525" cy="58674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0000916-D817-806F-6DE0-92512C0ECA75}"/>
              </a:ext>
            </a:extLst>
          </p:cNvPr>
          <p:cNvSpPr/>
          <p:nvPr/>
        </p:nvSpPr>
        <p:spPr>
          <a:xfrm>
            <a:off x="6076950" y="3092593"/>
            <a:ext cx="1959610" cy="285963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2F94662-81B3-87B9-51B1-61BD5ADDE9D5}"/>
              </a:ext>
            </a:extLst>
          </p:cNvPr>
          <p:cNvCxnSpPr>
            <a:cxnSpLocks/>
          </p:cNvCxnSpPr>
          <p:nvPr/>
        </p:nvCxnSpPr>
        <p:spPr>
          <a:xfrm>
            <a:off x="4751939" y="3097110"/>
            <a:ext cx="1344061" cy="22521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62324B15-6389-EDF6-6E8F-630977FDEFB3}"/>
              </a:ext>
            </a:extLst>
          </p:cNvPr>
          <p:cNvCxnSpPr>
            <a:cxnSpLocks/>
          </p:cNvCxnSpPr>
          <p:nvPr/>
        </p:nvCxnSpPr>
        <p:spPr>
          <a:xfrm flipV="1">
            <a:off x="4751939" y="3092593"/>
            <a:ext cx="1344061" cy="3570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DAFA2B37-96B8-A7F2-82EC-AEFEDA7BA7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7566" r="86587"/>
          <a:stretch>
            <a:fillRect/>
          </a:stretch>
        </p:blipFill>
        <p:spPr>
          <a:xfrm>
            <a:off x="1795760" y="2876976"/>
            <a:ext cx="1027176" cy="71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319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7AF8C-DACA-56BE-DC0F-84E43790B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DB61A11C-4878-6955-52D2-21E3C715F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24375" cy="1428750"/>
          </a:xfrm>
        </p:spPr>
        <p:txBody>
          <a:bodyPr anchor="t">
            <a:normAutofit fontScale="90000"/>
          </a:bodyPr>
          <a:lstStyle/>
          <a:p>
            <a:r>
              <a:rPr lang="en-US" altLang="ko-KR" sz="2400" dirty="0"/>
              <a:t>HMI – SBC</a:t>
            </a:r>
            <a:br>
              <a:rPr lang="en-US" altLang="ko-KR" sz="2400" dirty="0"/>
            </a:br>
            <a:r>
              <a:rPr lang="en-US" altLang="ko-KR" sz="2400" dirty="0"/>
              <a:t>SCK : Serial Clock</a:t>
            </a:r>
            <a:br>
              <a:rPr lang="en-US" altLang="ko-KR" sz="2400" dirty="0"/>
            </a:br>
            <a:r>
              <a:rPr lang="en-US" altLang="ko-KR" sz="2400" dirty="0"/>
              <a:t>MISO : Master In / Slave Out</a:t>
            </a:r>
            <a:br>
              <a:rPr lang="en-US" altLang="ko-KR" sz="2400" dirty="0"/>
            </a:br>
            <a:r>
              <a:rPr lang="en-US" altLang="ko-KR" sz="2400" dirty="0"/>
              <a:t>MOSI : Master Out / Slave In</a:t>
            </a:r>
            <a:br>
              <a:rPr lang="en-US" altLang="ko-KR" sz="2400" dirty="0"/>
            </a:br>
            <a:r>
              <a:rPr lang="en-US" altLang="ko-KR" sz="2400" dirty="0"/>
              <a:t>CS : Chip Set</a:t>
            </a:r>
            <a:endParaRPr lang="ko-KR" altLang="en-US" sz="2400" dirty="0"/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3F5BD9-B322-2C1E-8783-23B8E8C86E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927" r="21969"/>
          <a:stretch>
            <a:fillRect/>
          </a:stretch>
        </p:blipFill>
        <p:spPr>
          <a:xfrm>
            <a:off x="1591056" y="2932882"/>
            <a:ext cx="2075688" cy="1428750"/>
          </a:xfrm>
          <a:prstGeom prst="rect">
            <a:avLst/>
          </a:prstGeom>
        </p:spPr>
      </p:pic>
      <p:pic>
        <p:nvPicPr>
          <p:cNvPr id="7" name="그림 6" descr="텍스트, 전자제품, 전자 공학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FABDF6-E9AA-E931-E07E-2927652DAC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17"/>
          <a:stretch>
            <a:fillRect/>
          </a:stretch>
        </p:blipFill>
        <p:spPr>
          <a:xfrm>
            <a:off x="5468112" y="653789"/>
            <a:ext cx="6692009" cy="607619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E1CD0D0-FB3C-B45D-84E3-8A36942D3E5A}"/>
              </a:ext>
            </a:extLst>
          </p:cNvPr>
          <p:cNvSpPr/>
          <p:nvPr/>
        </p:nvSpPr>
        <p:spPr>
          <a:xfrm>
            <a:off x="5468112" y="3295356"/>
            <a:ext cx="2167128" cy="645708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CB6133-983C-5C38-15FD-D21C6A8365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1511"/>
          <a:stretch>
            <a:fillRect/>
          </a:stretch>
        </p:blipFill>
        <p:spPr>
          <a:xfrm>
            <a:off x="165991" y="2932882"/>
            <a:ext cx="1415921" cy="1428750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049EA74-0288-A269-12D9-3FC502545A23}"/>
              </a:ext>
            </a:extLst>
          </p:cNvPr>
          <p:cNvCxnSpPr>
            <a:cxnSpLocks/>
          </p:cNvCxnSpPr>
          <p:nvPr/>
        </p:nvCxnSpPr>
        <p:spPr>
          <a:xfrm flipH="1" flipV="1">
            <a:off x="3611880" y="3088640"/>
            <a:ext cx="1940560" cy="45296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6EEE29F-22CF-A7BF-850F-F168C7B4BC3D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3611880" y="3429000"/>
            <a:ext cx="1856232" cy="262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CBC1AC06-2215-6FC0-AE9F-7F49C631C222}"/>
              </a:ext>
            </a:extLst>
          </p:cNvPr>
          <p:cNvCxnSpPr>
            <a:cxnSpLocks/>
          </p:cNvCxnSpPr>
          <p:nvPr/>
        </p:nvCxnSpPr>
        <p:spPr>
          <a:xfrm flipH="1" flipV="1">
            <a:off x="3675888" y="3825531"/>
            <a:ext cx="1830832" cy="3807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732C3A3-E4DB-9F09-53E6-5687893E277E}"/>
              </a:ext>
            </a:extLst>
          </p:cNvPr>
          <p:cNvCxnSpPr>
            <a:cxnSpLocks/>
          </p:cNvCxnSpPr>
          <p:nvPr/>
        </p:nvCxnSpPr>
        <p:spPr>
          <a:xfrm flipH="1">
            <a:off x="3652012" y="3351537"/>
            <a:ext cx="1806956" cy="8734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603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315</Words>
  <Application>Microsoft Office PowerPoint</Application>
  <PresentationFormat>와이드스크린</PresentationFormat>
  <Paragraphs>29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HMI - LED</vt:lpstr>
      <vt:lpstr>HMI – 가변저항 (Potentiometer)</vt:lpstr>
      <vt:lpstr>HMI – SW(스위치)</vt:lpstr>
      <vt:lpstr>HMI – OpenSDA UART</vt:lpstr>
      <vt:lpstr>HMI – CAN 인터페이스</vt:lpstr>
      <vt:lpstr>HMI – LIN 인터페이스</vt:lpstr>
      <vt:lpstr>HMI – SBC SCK : Serial Clock MISO : Master In / Slave Out MOSI : Master Out / Slave In CS : Chip 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강선민</dc:creator>
  <cp:lastModifiedBy>강선민</cp:lastModifiedBy>
  <cp:revision>49</cp:revision>
  <dcterms:created xsi:type="dcterms:W3CDTF">2026-02-02T00:43:05Z</dcterms:created>
  <dcterms:modified xsi:type="dcterms:W3CDTF">2026-02-02T03:22:28Z</dcterms:modified>
</cp:coreProperties>
</file>